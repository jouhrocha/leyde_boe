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56" r:id="rId2"/>
    <p:sldId id="364" r:id="rId3"/>
    <p:sldId id="377" r:id="rId4"/>
    <p:sldId id="371" r:id="rId5"/>
    <p:sldId id="372" r:id="rId6"/>
    <p:sldId id="369" r:id="rId7"/>
    <p:sldId id="370" r:id="rId8"/>
    <p:sldId id="366" r:id="rId9"/>
    <p:sldId id="367" r:id="rId10"/>
    <p:sldId id="374" r:id="rId11"/>
    <p:sldId id="373" r:id="rId12"/>
  </p:sldIdLst>
  <p:sldSz cx="12192000" cy="6858000"/>
  <p:notesSz cx="6797675" cy="992505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B5CC3-09E3-4A38-9E46-219976E864A5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39838"/>
            <a:ext cx="5956300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6A88F-EBEF-433C-BF13-035CFF622DD0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00751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ca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58616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3498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4976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049706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8234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8653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399781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12035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07820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376656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75830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ca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76D28-54BA-4E2C-B71A-B62A456EDC5E}" type="datetimeFigureOut">
              <a:rPr lang="ca-ES" smtClean="0"/>
              <a:t>28/1/2025</a:t>
            </a:fld>
            <a:endParaRPr lang="ca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546E5-CCBA-4973-A896-215B2748B949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57576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pendium.cat/recurs/interposar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B52D-AABE-DE2F-FACD-353FC3E81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138" y="103868"/>
            <a:ext cx="10515600" cy="1325563"/>
          </a:xfrm>
        </p:spPr>
        <p:txBody>
          <a:bodyPr>
            <a:normAutofit/>
          </a:bodyPr>
          <a:lstStyle/>
          <a:p>
            <a:r>
              <a:rPr lang="ca-ES" sz="2800" b="1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Fraseologia processal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9CC241-BAE4-0225-970A-E8E81B79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137" y="1330036"/>
            <a:ext cx="11563399" cy="4846927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como mejor proceda en derecho </a:t>
            </a:r>
            <a:r>
              <a:rPr lang="es-ES" dirty="0">
                <a:solidFill>
                  <a:srgbClr val="00B050"/>
                </a:solidFill>
              </a:rPr>
              <a:t>= </a:t>
            </a:r>
            <a:r>
              <a:rPr lang="ca-ES" i="1" dirty="0">
                <a:solidFill>
                  <a:srgbClr val="00B050"/>
                </a:solidFill>
              </a:rPr>
              <a:t>com sigui més procedent/escaient en dret</a:t>
            </a:r>
          </a:p>
          <a:p>
            <a:pPr marL="0" indent="0">
              <a:buNone/>
            </a:pPr>
            <a:r>
              <a:rPr lang="es-ES" dirty="0"/>
              <a:t>				      </a:t>
            </a:r>
            <a:r>
              <a:rPr lang="es-ES" dirty="0">
                <a:solidFill>
                  <a:srgbClr val="00B050"/>
                </a:solidFill>
              </a:rPr>
              <a:t>= </a:t>
            </a:r>
            <a:r>
              <a:rPr lang="ca-ES" dirty="0">
                <a:solidFill>
                  <a:srgbClr val="00B050"/>
                </a:solidFill>
              </a:rPr>
              <a:t>com correspongui en dret	</a:t>
            </a:r>
          </a:p>
          <a:p>
            <a:r>
              <a:rPr lang="es-ES" dirty="0"/>
              <a:t>en tiempo y forma </a:t>
            </a:r>
            <a:r>
              <a:rPr lang="es-ES" dirty="0">
                <a:solidFill>
                  <a:srgbClr val="00B050"/>
                </a:solidFill>
              </a:rPr>
              <a:t>= </a:t>
            </a:r>
            <a:r>
              <a:rPr lang="ca-ES" i="1" dirty="0">
                <a:solidFill>
                  <a:srgbClr val="00B050"/>
                </a:solidFill>
              </a:rPr>
              <a:t>dins el termini (establert) i la forma escaient / en el termini i la forma legals</a:t>
            </a:r>
          </a:p>
          <a:p>
            <a:endParaRPr lang="es-ES" dirty="0"/>
          </a:p>
          <a:p>
            <a:r>
              <a:rPr lang="es-ES" dirty="0"/>
              <a:t>procede interponer recurso de […] = </a:t>
            </a:r>
            <a:r>
              <a:rPr lang="ca-ES" i="1" dirty="0">
                <a:solidFill>
                  <a:srgbClr val="00B050"/>
                </a:solidFill>
              </a:rPr>
              <a:t>Escau interposar recurs./ És procedent interposar recurs.</a:t>
            </a:r>
          </a:p>
          <a:p>
            <a:endParaRPr lang="es-ES" dirty="0"/>
          </a:p>
          <a:p>
            <a:r>
              <a:rPr lang="es-ES" dirty="0"/>
              <a:t>Por ministerio de la ley = </a:t>
            </a:r>
            <a:r>
              <a:rPr lang="ca-ES" i="1" dirty="0">
                <a:solidFill>
                  <a:srgbClr val="00B050"/>
                </a:solidFill>
              </a:rPr>
              <a:t>segons la llei/d’acord amb la llei...</a:t>
            </a:r>
          </a:p>
          <a:p>
            <a:endParaRPr lang="es-ES" dirty="0"/>
          </a:p>
          <a:p>
            <a:r>
              <a:rPr lang="es-ES" dirty="0"/>
              <a:t>AUTO = </a:t>
            </a:r>
            <a:r>
              <a:rPr lang="ca-ES" i="1" dirty="0">
                <a:solidFill>
                  <a:srgbClr val="00B050"/>
                </a:solidFill>
              </a:rPr>
              <a:t>interlocutòria / (pl.) actuacions / (dret penal)  nit dels fets</a:t>
            </a:r>
          </a:p>
          <a:p>
            <a:pPr lvl="1"/>
            <a:r>
              <a:rPr lang="es-ES" dirty="0"/>
              <a:t>en el caso de autos </a:t>
            </a:r>
          </a:p>
          <a:p>
            <a:pPr lvl="1"/>
            <a:r>
              <a:rPr lang="es-ES" dirty="0"/>
              <a:t>únase a los autos de su razón</a:t>
            </a:r>
          </a:p>
          <a:p>
            <a:pPr lvl="1"/>
            <a:r>
              <a:rPr lang="es-ES" dirty="0"/>
              <a:t>obrar en autos</a:t>
            </a:r>
          </a:p>
          <a:p>
            <a:pPr lvl="1"/>
            <a:r>
              <a:rPr lang="es-ES" dirty="0"/>
              <a:t>acumulación de autos</a:t>
            </a:r>
          </a:p>
          <a:p>
            <a:pPr lvl="1"/>
            <a:r>
              <a:rPr lang="es-ES" dirty="0"/>
              <a:t>arrastrar/avocar los autos</a:t>
            </a:r>
          </a:p>
          <a:p>
            <a:pPr lvl="1"/>
            <a:r>
              <a:rPr lang="es-ES" dirty="0"/>
              <a:t>noche de los autos</a:t>
            </a:r>
          </a:p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4034168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31CB7A-E453-E651-BB51-A8944E95F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796924"/>
            <a:ext cx="10515600" cy="5845175"/>
          </a:xfrm>
        </p:spPr>
        <p:txBody>
          <a:bodyPr>
            <a:normAutofit lnSpcReduction="10000"/>
          </a:bodyPr>
          <a:lstStyle/>
          <a:p>
            <a:r>
              <a:rPr lang="ca-ES" dirty="0"/>
              <a:t>ESCAURE vs. ESCAURE’S</a:t>
            </a:r>
          </a:p>
          <a:p>
            <a:endParaRPr lang="ca-ES" dirty="0"/>
          </a:p>
          <a:p>
            <a:r>
              <a:rPr lang="ca-ES" dirty="0"/>
              <a:t>Escaure: (àmbit jurídic) ser conforme a dret</a:t>
            </a:r>
          </a:p>
          <a:p>
            <a:pPr marL="1166813" indent="-269875"/>
            <a:r>
              <a:rPr lang="ca-ES" sz="2000" i="1" dirty="0">
                <a:solidFill>
                  <a:srgbClr val="00B050"/>
                </a:solidFill>
              </a:rPr>
              <a:t>Escau interposar recurs de reposició....</a:t>
            </a:r>
          </a:p>
          <a:p>
            <a:pPr lvl="2"/>
            <a:r>
              <a:rPr lang="ca-ES" i="1" dirty="0">
                <a:solidFill>
                  <a:srgbClr val="00B050"/>
                </a:solidFill>
              </a:rPr>
              <a:t>És procedent interposar un recurs d’alçada.</a:t>
            </a:r>
          </a:p>
          <a:p>
            <a:pPr lvl="2"/>
            <a:r>
              <a:rPr lang="ca-ES" i="1" dirty="0">
                <a:solidFill>
                  <a:srgbClr val="00B050"/>
                </a:solidFill>
              </a:rPr>
              <a:t>*Procedeix interposar recurs...</a:t>
            </a:r>
          </a:p>
          <a:p>
            <a:pPr marL="914400" lvl="2" indent="0">
              <a:buNone/>
            </a:pPr>
            <a:endParaRPr lang="ca-ES" dirty="0">
              <a:solidFill>
                <a:srgbClr val="00B050"/>
              </a:solidFill>
            </a:endParaRPr>
          </a:p>
          <a:p>
            <a:pPr marL="914400" lvl="2" indent="0">
              <a:buNone/>
            </a:pPr>
            <a:r>
              <a:rPr lang="ca-ES" dirty="0">
                <a:solidFill>
                  <a:srgbClr val="00B050"/>
                </a:solidFill>
              </a:rPr>
              <a:t>SI ESCAU = SI ÉS CONFORME A DRET</a:t>
            </a:r>
          </a:p>
          <a:p>
            <a:pPr marL="914400" lvl="2" indent="0">
              <a:buNone/>
            </a:pPr>
            <a:endParaRPr lang="ca-ES" dirty="0">
              <a:solidFill>
                <a:srgbClr val="00B050"/>
              </a:solidFill>
            </a:endParaRPr>
          </a:p>
          <a:p>
            <a:pPr>
              <a:tabLst>
                <a:tab pos="3771900" algn="l"/>
              </a:tabLst>
            </a:pPr>
            <a:r>
              <a:rPr lang="ca-ES" dirty="0"/>
              <a:t>Escaure: (general) correspondre, convenir, ser pertinent/adequat</a:t>
            </a:r>
          </a:p>
          <a:p>
            <a:pPr>
              <a:tabLst>
                <a:tab pos="3771900" algn="l"/>
              </a:tabLst>
            </a:pPr>
            <a:endParaRPr lang="ca-ES" dirty="0"/>
          </a:p>
          <a:p>
            <a:pPr>
              <a:tabLst>
                <a:tab pos="3771900" algn="l"/>
              </a:tabLst>
            </a:pPr>
            <a:r>
              <a:rPr lang="ca-ES" dirty="0"/>
              <a:t>Escaure’s: (produir-se/coincidir)</a:t>
            </a:r>
          </a:p>
          <a:p>
            <a:pPr lvl="1">
              <a:tabLst>
                <a:tab pos="3771900" algn="l"/>
              </a:tabLst>
            </a:pPr>
            <a:r>
              <a:rPr lang="ca-ES" i="1" dirty="0"/>
              <a:t>El dia ZZ s’escau en diumenge.</a:t>
            </a:r>
          </a:p>
          <a:p>
            <a:pPr lvl="1">
              <a:tabLst>
                <a:tab pos="3771900" algn="l"/>
              </a:tabLst>
            </a:pPr>
            <a:r>
              <a:rPr lang="ca-ES" i="1" dirty="0">
                <a:solidFill>
                  <a:srgbClr val="00B050"/>
                </a:solidFill>
              </a:rPr>
              <a:t>SI S’ESCAU  = SI N’HI HA / SI ES PRODUEIX</a:t>
            </a:r>
            <a:endParaRPr lang="ca-ES" i="1" dirty="0"/>
          </a:p>
          <a:p>
            <a:pPr lvl="2">
              <a:tabLst>
                <a:tab pos="3771900" algn="l"/>
              </a:tabLst>
            </a:pP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09646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B52D-AABE-DE2F-FACD-353FC3E81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ca-ES" sz="2800" b="1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Terminologia processal (verbs controvertits)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9CC241-BAE4-0225-970A-E8E81B797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231"/>
            <a:ext cx="5684520" cy="3808820"/>
          </a:xfrm>
        </p:spPr>
        <p:txBody>
          <a:bodyPr>
            <a:normAutofit fontScale="85000" lnSpcReduction="20000"/>
          </a:bodyPr>
          <a:lstStyle/>
          <a:p>
            <a:r>
              <a:rPr lang="es-ES" dirty="0"/>
              <a:t>formular/presentar</a:t>
            </a:r>
          </a:p>
          <a:p>
            <a:r>
              <a:rPr lang="es-ES" dirty="0" err="1"/>
              <a:t>interposar</a:t>
            </a:r>
            <a:r>
              <a:rPr lang="es-ES" dirty="0"/>
              <a:t> </a:t>
            </a:r>
          </a:p>
          <a:p>
            <a:r>
              <a:rPr lang="ca-ES" dirty="0"/>
              <a:t>adjuntar</a:t>
            </a:r>
          </a:p>
          <a:p>
            <a:r>
              <a:rPr lang="ca-ES" dirty="0"/>
              <a:t>fallar  ≠  decidir</a:t>
            </a:r>
            <a:endParaRPr lang="ca-ES" dirty="0">
              <a:solidFill>
                <a:srgbClr val="00B050"/>
              </a:solidFill>
            </a:endParaRPr>
          </a:p>
          <a:p>
            <a:r>
              <a:rPr lang="ca-ES" dirty="0"/>
              <a:t>acordar</a:t>
            </a:r>
            <a:endParaRPr lang="ca-ES" dirty="0">
              <a:solidFill>
                <a:srgbClr val="00B050"/>
              </a:solidFill>
            </a:endParaRPr>
          </a:p>
          <a:p>
            <a:r>
              <a:rPr lang="ca-ES" dirty="0"/>
              <a:t>recórrer</a:t>
            </a:r>
            <a:endParaRPr lang="ca-ES" dirty="0">
              <a:solidFill>
                <a:srgbClr val="00B050"/>
              </a:solidFill>
            </a:endParaRPr>
          </a:p>
          <a:p>
            <a:r>
              <a:rPr lang="ca-ES" dirty="0"/>
              <a:t>sobreseure</a:t>
            </a:r>
          </a:p>
          <a:p>
            <a:r>
              <a:rPr lang="ca-ES" dirty="0"/>
              <a:t>interessar</a:t>
            </a:r>
          </a:p>
          <a:p>
            <a:r>
              <a:rPr lang="ca-ES" dirty="0"/>
              <a:t>senyalar/assenyalar</a:t>
            </a:r>
          </a:p>
          <a:p>
            <a:r>
              <a:rPr lang="ca-ES" dirty="0"/>
              <a:t>notificar</a:t>
            </a:r>
          </a:p>
          <a:p>
            <a:endParaRPr lang="ca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232EE09-7B04-3E56-004B-0601B2432111}"/>
              </a:ext>
            </a:extLst>
          </p:cNvPr>
          <p:cNvSpPr txBox="1">
            <a:spLocks/>
          </p:cNvSpPr>
          <p:nvPr/>
        </p:nvSpPr>
        <p:spPr>
          <a:xfrm>
            <a:off x="838200" y="5737769"/>
            <a:ext cx="3132909" cy="497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dirty="0"/>
              <a:t>arxiu/arxivament</a:t>
            </a:r>
          </a:p>
          <a:p>
            <a:endParaRPr lang="ca-ES" dirty="0"/>
          </a:p>
          <a:p>
            <a:endParaRPr lang="ca-E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769115A-528C-49FA-6417-B45BCE8C18FB}"/>
              </a:ext>
            </a:extLst>
          </p:cNvPr>
          <p:cNvSpPr txBox="1">
            <a:spLocks/>
          </p:cNvSpPr>
          <p:nvPr/>
        </p:nvSpPr>
        <p:spPr>
          <a:xfrm>
            <a:off x="838200" y="46386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a-ES" sz="2800" b="1" dirty="0">
                <a:solidFill>
                  <a:srgbClr val="C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Altres </a:t>
            </a:r>
          </a:p>
        </p:txBody>
      </p:sp>
    </p:spTree>
    <p:extLst>
      <p:ext uri="{BB962C8B-B14F-4D97-AF65-F5344CB8AC3E}">
        <p14:creationId xmlns:p14="http://schemas.microsoft.com/office/powerpoint/2010/main" val="1544527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A0882-B6DE-CCE8-FE33-807CD53A8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7"/>
            <a:ext cx="10515600" cy="1325563"/>
          </a:xfrm>
        </p:spPr>
        <p:txBody>
          <a:bodyPr/>
          <a:lstStyle/>
          <a:p>
            <a:r>
              <a:rPr lang="es-ES" b="1" dirty="0">
                <a:solidFill>
                  <a:srgbClr val="C00000"/>
                </a:solidFill>
              </a:rPr>
              <a:t>Presentar, formular i </a:t>
            </a:r>
            <a:r>
              <a:rPr lang="es-ES" b="1" dirty="0" err="1">
                <a:solidFill>
                  <a:srgbClr val="C00000"/>
                </a:solidFill>
              </a:rPr>
              <a:t>interposar</a:t>
            </a:r>
            <a:endParaRPr lang="ca-ES" b="1" dirty="0">
              <a:solidFill>
                <a:srgbClr val="C0000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C4BE6B-0869-D474-FF4B-C0A11AE58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84" y="969962"/>
            <a:ext cx="9446916" cy="25511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BC2C8FD-358C-1708-51E1-7432CDCD4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84" y="3521075"/>
            <a:ext cx="9153525" cy="29718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3CAB4E1-A447-5F57-0724-6B21141D4CE7}"/>
              </a:ext>
            </a:extLst>
          </p:cNvPr>
          <p:cNvSpPr txBox="1"/>
          <p:nvPr/>
        </p:nvSpPr>
        <p:spPr>
          <a:xfrm>
            <a:off x="1409700" y="6492875"/>
            <a:ext cx="612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Font: TERMCAT (</a:t>
            </a:r>
            <a:r>
              <a:rPr lang="es-ES" dirty="0">
                <a:hlinkClick r:id="rId4"/>
              </a:rPr>
              <a:t>https://compendium.cat/recurs/interposar/</a:t>
            </a:r>
            <a:r>
              <a:rPr lang="es-ES" dirty="0"/>
              <a:t>) 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775592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E229467-8B2D-4631-43C9-376BAD1175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55"/>
          <a:stretch/>
        </p:blipFill>
        <p:spPr>
          <a:xfrm>
            <a:off x="434975" y="368300"/>
            <a:ext cx="8553450" cy="548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73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66E1BAC-4BA8-777B-6F60-B00D21656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478049"/>
            <a:ext cx="8426450" cy="484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70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91B7A36-12B5-3E25-C2F6-645A349E3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510204"/>
            <a:ext cx="8097837" cy="497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5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23B4F70C-BB76-1B43-202A-B9EF6036A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901" y="122897"/>
            <a:ext cx="7986712" cy="601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537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80C18A8-DE18-7120-51D7-4C75B4F3F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28" y="609601"/>
            <a:ext cx="9823572" cy="358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74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B2A6ABD-E1FD-2A42-8BC6-B8D863326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00" y="337461"/>
            <a:ext cx="7531100" cy="618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367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56B1D8D-4697-09E7-5260-2EF2922BF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342899"/>
            <a:ext cx="9105900" cy="592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284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245</Words>
  <Application>Microsoft Office PowerPoint</Application>
  <PresentationFormat>Panorámica</PresentationFormat>
  <Paragraphs>45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Fraseologia processal</vt:lpstr>
      <vt:lpstr>Presentación de PowerPoint</vt:lpstr>
      <vt:lpstr>Terminologia processal (verbs controvertits)</vt:lpstr>
      <vt:lpstr>Presentar, formular i interposar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anna arnall</dc:creator>
  <cp:lastModifiedBy>anna arnall</cp:lastModifiedBy>
  <cp:revision>38</cp:revision>
  <cp:lastPrinted>2025-01-27T16:50:55Z</cp:lastPrinted>
  <dcterms:created xsi:type="dcterms:W3CDTF">2016-11-16T15:50:11Z</dcterms:created>
  <dcterms:modified xsi:type="dcterms:W3CDTF">2025-01-28T14:39:10Z</dcterms:modified>
</cp:coreProperties>
</file>