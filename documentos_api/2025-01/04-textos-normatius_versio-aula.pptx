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1"/>
  </p:sldMasterIdLst>
  <p:notesMasterIdLst>
    <p:notesMasterId r:id="rId11"/>
  </p:notesMasterIdLst>
  <p:sldIdLst>
    <p:sldId id="382" r:id="rId2"/>
    <p:sldId id="384" r:id="rId3"/>
    <p:sldId id="391" r:id="rId4"/>
    <p:sldId id="385" r:id="rId5"/>
    <p:sldId id="390" r:id="rId6"/>
    <p:sldId id="389" r:id="rId7"/>
    <p:sldId id="388" r:id="rId8"/>
    <p:sldId id="387" r:id="rId9"/>
    <p:sldId id="386" r:id="rId10"/>
  </p:sldIdLst>
  <p:sldSz cx="12192000" cy="6858000"/>
  <p:notesSz cx="6797675" cy="992505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FE8A"/>
    <a:srgbClr val="16D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900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351" cy="4975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49728" y="1"/>
            <a:ext cx="2946351" cy="4975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4BCC7-5F47-4248-8F53-A788FDBAF2EE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8" y="4776322"/>
            <a:ext cx="5437821" cy="390789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7451"/>
            <a:ext cx="2946351" cy="4975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49728" y="9427451"/>
            <a:ext cx="2946351" cy="49759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5369-D7F1-4EF9-998A-94CA85620B4B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602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5369-D7F1-4EF9-998A-94CA85620B4B}" type="slidenum">
              <a:rPr lang="ca-ES" smtClean="0"/>
              <a:t>1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76099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5369-D7F1-4EF9-998A-94CA85620B4B}" type="slidenum">
              <a:rPr lang="ca-ES" smtClean="0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144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5369-D7F1-4EF9-998A-94CA85620B4B}" type="slidenum">
              <a:rPr lang="ca-ES" smtClean="0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752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5369-D7F1-4EF9-998A-94CA85620B4B}" type="slidenum">
              <a:rPr lang="ca-ES" smtClean="0"/>
              <a:t>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86413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8214A-DFB7-4CF7-98B1-7F5F1FFEB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4E3EA7-4FCC-49B8-8B82-FCC90D7A7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195B6D-B8EF-4010-97D2-B915C958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BC153-153C-462F-A123-AB64A9AD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2F3142-B488-4650-9A43-8DCD7AC0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9691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38201-AF23-4E8D-BA60-6C74B9E35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14182D-EE47-49A0-923E-696B9CCE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F5CFD9-4B14-401A-9F9A-571D622A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56004-E851-41EF-B4F9-2647748B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6B544-16D5-4BF1-8E61-51DDE5E5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7778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D99CF-9AF2-42A7-AEFE-EB4AC8EE3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D35A0D-A469-4D5F-8D0C-81C938B81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D633A6-2E26-4B61-BE03-2E395374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2067D-ABF6-40DC-9A22-A1E04717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26A87C-B19C-454F-8276-77ADE0E4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20991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24C7-AE46-4B00-B4CE-0B060D80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49876A-B6B2-4980-8234-E58B9CD9E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083861-C2E7-4092-B8A6-922BA5E81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81DBBB-5989-4521-B0FE-E1B14598A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3B5F4A-8B4B-4226-A3C4-CC230BD4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43A605-C071-4522-87E0-BF82DD29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2353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02ADA-D559-40EE-ACC4-340847D8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FFC614-D908-45A0-80BB-9627F4DE1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8F9FD3-9BE7-4269-849E-201828171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847F406-A1E1-4DF5-9DC9-E24A3E813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1EC504-2311-4271-92D0-CBE1A2D41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C27CC9-7F28-46A1-A5DE-B3521782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8240A3A-99CC-479E-B9E7-784383E84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37A1169-8FDA-41F1-A246-D9EB3F44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9124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8F6E7-C9A3-43D6-A776-5AFCFB62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8BEF1B-D85F-45D1-90DC-D6996F12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61CED2-DB9B-4EEB-A0C9-548DE9454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1A49800-DC94-4688-BB9C-08A85C8D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4440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9186BD5-5A51-41A0-8B36-4B65F34A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0A319-552A-42CF-82A0-5775852E7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C36069-3BBF-4FA5-B4CA-79457F48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32992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D36F5-8B2A-4705-A36F-294E80ED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DA0AE-0155-481A-87A2-90354DD5D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C43BAE4-EA60-4BEB-B78E-C6C751D2A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C57141-3278-4871-A838-EF3EA508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045240-65FC-4347-AB01-D1F1211F8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496FC9-C395-464D-A98E-782CC2FF5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81292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AD3A4-A977-40DB-8750-395E69927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1F694-EC76-4098-82AC-37E243887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6B215E-8B64-4C84-A857-3D2B3EA82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27C32-5737-4D9B-AB21-AEE52BB3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3C2492-85B5-442B-8F5F-3C18B1F3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EEFB27-2A52-4054-81F7-6BCF3B85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72773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FFF1F-4C43-4FE1-AA09-13A0501A4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42F819-525E-4EA0-A9AD-6DC5AC979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1C2EC-A658-4A1A-9A8C-835C8222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A3FA4E-6EB7-41A3-B380-4D0CF59E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490F89-FCAC-4254-8AD3-F3052DA3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5111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179A34-567D-4427-A0AD-13EABB0A7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CEF8B1-673A-437A-8308-9363A3D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E47D2B-A4A7-418D-8BCB-C5E50931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8E4E6-C6E4-480F-9FA7-82358CC6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4F20B9-B10C-4734-B332-EC838017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5655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1B3607-73C6-4DA1-A7EE-D337453A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3EE8F-C9E5-4537-A41D-D6EACD255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D59AC-B828-4BCF-8C88-78BA1A89E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A2CF8-4C20-459D-AB9A-B3B84A38A2C4}" type="datetimeFigureOut">
              <a:rPr lang="ca-ES" smtClean="0"/>
              <a:t>27/1/2025</a:t>
            </a:fld>
            <a:endParaRPr lang="ca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63CA9-4516-4C94-A33D-E272FBD1A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24EA73-A863-4537-BB6D-8C5896823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8A1F9-BFF2-44CF-B6E3-F81007675DA5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4872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endium.cat/recurs/llibre-destil-del-govern-de-les-illes-balears-2a-edici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uc-word-edit.officeapps.live.com/we/9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1DBD42-C1F1-0894-873B-7DD1C2D20E70}"/>
              </a:ext>
            </a:extLst>
          </p:cNvPr>
          <p:cNvSpPr/>
          <p:nvPr/>
        </p:nvSpPr>
        <p:spPr>
          <a:xfrm>
            <a:off x="892810" y="1726959"/>
            <a:ext cx="10684901" cy="2894278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sz="3200" b="1" dirty="0">
                <a:solidFill>
                  <a:schemeClr val="tx1"/>
                </a:solidFill>
              </a:rPr>
              <a:t>Textos normatius</a:t>
            </a:r>
          </a:p>
          <a:p>
            <a:pPr marL="93663" indent="-7938">
              <a:tabLst>
                <a:tab pos="4305300" algn="l"/>
              </a:tabLst>
            </a:pPr>
            <a:endParaRPr lang="ca-ES" sz="2800" b="1" dirty="0">
              <a:solidFill>
                <a:schemeClr val="tx1"/>
              </a:solidFill>
            </a:endParaRPr>
          </a:p>
          <a:p>
            <a:pPr marL="365125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000" b="1" dirty="0">
                <a:solidFill>
                  <a:schemeClr val="tx1"/>
                </a:solidFill>
              </a:rPr>
              <a:t>·</a:t>
            </a:r>
            <a:r>
              <a:rPr lang="ca-ES" sz="2200" dirty="0">
                <a:solidFill>
                  <a:schemeClr val="tx1"/>
                </a:solidFill>
              </a:rPr>
              <a:t> Textos que </a:t>
            </a:r>
            <a:r>
              <a:rPr lang="ca-ES" sz="2200" b="1" dirty="0">
                <a:solidFill>
                  <a:schemeClr val="tx1"/>
                </a:solidFill>
              </a:rPr>
              <a:t>prescriuen normes</a:t>
            </a:r>
            <a:br>
              <a:rPr lang="ca-ES" sz="2200" dirty="0">
                <a:solidFill>
                  <a:schemeClr val="tx1"/>
                </a:solidFill>
              </a:rPr>
            </a:br>
            <a:r>
              <a:rPr lang="ca-ES" sz="2200" dirty="0">
                <a:solidFill>
                  <a:schemeClr val="tx1"/>
                </a:solidFill>
              </a:rPr>
              <a:t>· Exemples: </a:t>
            </a:r>
            <a:r>
              <a:rPr lang="ca-ES" sz="2200" b="1" dirty="0">
                <a:solidFill>
                  <a:schemeClr val="tx1"/>
                </a:solidFill>
              </a:rPr>
              <a:t>lleis, decrets, decrets legislatius, ordres, ordenances, reglaments, estatuts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Característiques:</a:t>
            </a:r>
          </a:p>
          <a:p>
            <a:pPr marL="266700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· Van adreçats a un </a:t>
            </a:r>
            <a:r>
              <a:rPr lang="ca-ES" sz="2200" b="1" dirty="0">
                <a:solidFill>
                  <a:schemeClr val="tx1"/>
                </a:solidFill>
              </a:rPr>
              <a:t>públic indefinit, genèric </a:t>
            </a:r>
            <a:r>
              <a:rPr lang="ca-ES" sz="2200" dirty="0">
                <a:solidFill>
                  <a:schemeClr val="tx1"/>
                </a:solidFill>
              </a:rPr>
              <a:t>(</a:t>
            </a:r>
            <a:r>
              <a:rPr lang="ca-ES" sz="2200" b="1" dirty="0">
                <a:solidFill>
                  <a:schemeClr val="tx1"/>
                </a:solidFill>
              </a:rPr>
              <a:t>formalitat mitjana</a:t>
            </a:r>
            <a:r>
              <a:rPr lang="ca-ES" sz="2200" dirty="0">
                <a:solidFill>
                  <a:schemeClr val="tx1"/>
                </a:solidFill>
              </a:rPr>
              <a:t>)</a:t>
            </a:r>
          </a:p>
          <a:p>
            <a:pPr marL="266700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· </a:t>
            </a:r>
            <a:r>
              <a:rPr lang="ca-ES" sz="2200" b="1" dirty="0">
                <a:solidFill>
                  <a:schemeClr val="tx1"/>
                </a:solidFill>
              </a:rPr>
              <a:t>Sintaxi i terminologia molt controlada </a:t>
            </a:r>
            <a:r>
              <a:rPr lang="ca-ES" sz="2200" dirty="0">
                <a:solidFill>
                  <a:schemeClr val="tx1"/>
                </a:solidFill>
              </a:rPr>
              <a:t>(coherència terminològica).</a:t>
            </a:r>
          </a:p>
          <a:p>
            <a:pPr marL="266700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· Han de ser </a:t>
            </a:r>
            <a:r>
              <a:rPr lang="ca-ES" sz="2200" b="1" dirty="0">
                <a:solidFill>
                  <a:schemeClr val="tx1"/>
                </a:solidFill>
              </a:rPr>
              <a:t>clars</a:t>
            </a:r>
            <a:r>
              <a:rPr lang="ca-ES" sz="2200" dirty="0">
                <a:solidFill>
                  <a:schemeClr val="tx1"/>
                </a:solidFill>
              </a:rPr>
              <a:t> i </a:t>
            </a:r>
            <a:r>
              <a:rPr lang="ca-ES" sz="2200" b="1" dirty="0">
                <a:solidFill>
                  <a:schemeClr val="tx1"/>
                </a:solidFill>
              </a:rPr>
              <a:t>ordenats</a:t>
            </a:r>
            <a:r>
              <a:rPr lang="ca-ES" sz="2200" dirty="0">
                <a:solidFill>
                  <a:schemeClr val="tx1"/>
                </a:solidFill>
              </a:rPr>
              <a:t>.</a:t>
            </a:r>
          </a:p>
          <a:p>
            <a:pPr marL="266700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· Se solen caracteritzar per una </a:t>
            </a:r>
            <a:r>
              <a:rPr lang="ca-ES" sz="2200" b="1" dirty="0">
                <a:solidFill>
                  <a:schemeClr val="tx1"/>
                </a:solidFill>
              </a:rPr>
              <a:t>part expositiva </a:t>
            </a:r>
            <a:r>
              <a:rPr lang="ca-ES" sz="2200" dirty="0">
                <a:solidFill>
                  <a:schemeClr val="tx1"/>
                </a:solidFill>
              </a:rPr>
              <a:t>i per una </a:t>
            </a:r>
            <a:r>
              <a:rPr lang="ca-ES" sz="2200" b="1" dirty="0">
                <a:solidFill>
                  <a:schemeClr val="tx1"/>
                </a:solidFill>
              </a:rPr>
              <a:t>part dispositiva </a:t>
            </a:r>
            <a:r>
              <a:rPr lang="ca-ES" sz="2200" dirty="0">
                <a:solidFill>
                  <a:schemeClr val="tx1"/>
                </a:solidFill>
              </a:rPr>
              <a:t>(articulada</a:t>
            </a:r>
            <a:r>
              <a:rPr lang="ca-ES" sz="2000" b="1" dirty="0">
                <a:solidFill>
                  <a:schemeClr val="tx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2554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1DBD42-C1F1-0894-873B-7DD1C2D20E70}"/>
              </a:ext>
            </a:extLst>
          </p:cNvPr>
          <p:cNvSpPr/>
          <p:nvPr/>
        </p:nvSpPr>
        <p:spPr>
          <a:xfrm>
            <a:off x="474875" y="920410"/>
            <a:ext cx="10684901" cy="2894278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sz="3200" b="1" dirty="0">
                <a:solidFill>
                  <a:schemeClr val="tx1"/>
                </a:solidFill>
              </a:rPr>
              <a:t>Textos normatius: part expositiva</a:t>
            </a:r>
          </a:p>
          <a:p>
            <a:pPr marL="93663" indent="-7938">
              <a:tabLst>
                <a:tab pos="4305300" algn="l"/>
              </a:tabLst>
            </a:pPr>
            <a:endParaRPr lang="ca-ES" sz="2800" b="1" dirty="0">
              <a:solidFill>
                <a:schemeClr val="tx1"/>
              </a:solidFill>
            </a:endParaRP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000" b="1" dirty="0">
                <a:solidFill>
                  <a:schemeClr val="tx1"/>
                </a:solidFill>
              </a:rPr>
              <a:t>·</a:t>
            </a:r>
            <a:r>
              <a:rPr lang="ca-ES" sz="2200" dirty="0">
                <a:solidFill>
                  <a:schemeClr val="tx1"/>
                </a:solidFill>
              </a:rPr>
              <a:t> </a:t>
            </a:r>
            <a:r>
              <a:rPr lang="ca-ES" sz="2200" b="1" dirty="0">
                <a:solidFill>
                  <a:schemeClr val="tx1"/>
                </a:solidFill>
              </a:rPr>
              <a:t>Característiques de la part expositiva</a:t>
            </a:r>
            <a:r>
              <a:rPr lang="ca-ES" sz="2200" dirty="0">
                <a:solidFill>
                  <a:schemeClr val="tx1"/>
                </a:solidFill>
              </a:rPr>
              <a:t> </a:t>
            </a:r>
            <a:br>
              <a:rPr lang="ca-ES" sz="2200" dirty="0">
                <a:solidFill>
                  <a:schemeClr val="tx1"/>
                </a:solidFill>
              </a:rPr>
            </a:br>
            <a:r>
              <a:rPr lang="ca-ES" sz="2200" dirty="0">
                <a:solidFill>
                  <a:schemeClr val="tx1"/>
                </a:solidFill>
              </a:rPr>
              <a:t>· </a:t>
            </a:r>
            <a:r>
              <a:rPr lang="ca-ES" sz="2200" b="1" dirty="0">
                <a:solidFill>
                  <a:schemeClr val="tx1"/>
                </a:solidFill>
              </a:rPr>
              <a:t>Els connectors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endParaRPr lang="ca-ES" sz="2200" i="1" dirty="0">
              <a:solidFill>
                <a:schemeClr val="tx1"/>
              </a:solidFill>
            </a:endParaRP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5030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01DBD42-C1F1-0894-873B-7DD1C2D20E70}"/>
              </a:ext>
            </a:extLst>
          </p:cNvPr>
          <p:cNvSpPr/>
          <p:nvPr/>
        </p:nvSpPr>
        <p:spPr>
          <a:xfrm>
            <a:off x="753549" y="2749210"/>
            <a:ext cx="10684901" cy="2894278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sz="3200" b="1" dirty="0">
                <a:solidFill>
                  <a:schemeClr val="tx1"/>
                </a:solidFill>
              </a:rPr>
              <a:t>Textos normatius: part dispositiva</a:t>
            </a:r>
          </a:p>
          <a:p>
            <a:pPr marL="93663" indent="-7938">
              <a:tabLst>
                <a:tab pos="4305300" algn="l"/>
              </a:tabLst>
            </a:pPr>
            <a:endParaRPr lang="ca-ES" sz="2800" b="1" dirty="0">
              <a:solidFill>
                <a:schemeClr val="tx1"/>
              </a:solidFill>
            </a:endParaRP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000" b="1" dirty="0">
                <a:solidFill>
                  <a:schemeClr val="tx1"/>
                </a:solidFill>
              </a:rPr>
              <a:t>·</a:t>
            </a:r>
            <a:r>
              <a:rPr lang="ca-ES" sz="2200" b="1" dirty="0">
                <a:solidFill>
                  <a:schemeClr val="tx1"/>
                </a:solidFill>
              </a:rPr>
              <a:t> Fraseologia molt controlada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b="1" dirty="0">
                <a:solidFill>
                  <a:schemeClr val="tx1"/>
                </a:solidFill>
              </a:rPr>
              <a:t>· Temps verbals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b="1" dirty="0">
                <a:solidFill>
                  <a:schemeClr val="tx1"/>
                </a:solidFill>
              </a:rPr>
              <a:t>· L’autonomia dels articles </a:t>
            </a:r>
            <a:r>
              <a:rPr lang="ca-ES" sz="2200" dirty="0">
                <a:solidFill>
                  <a:schemeClr val="tx1"/>
                </a:solidFill>
              </a:rPr>
              <a:t>(afecta l’ús de connectors i les remissions internes)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b="1" dirty="0">
                <a:solidFill>
                  <a:schemeClr val="tx1"/>
                </a:solidFill>
              </a:rPr>
              <a:t>· Tècniques de comunicació clara:</a:t>
            </a:r>
          </a:p>
          <a:p>
            <a:pPr marL="885825" lvl="1" indent="-342900">
              <a:buFont typeface="Wingdings" panose="05000000000000000000" pitchFamily="2" charset="2"/>
              <a:buChar char="§"/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Formular en positiu</a:t>
            </a:r>
          </a:p>
          <a:p>
            <a:pPr marL="885825" lvl="1" indent="-342900">
              <a:buFont typeface="Wingdings" panose="05000000000000000000" pitchFamily="2" charset="2"/>
              <a:buChar char="§"/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Donar preferència a l’estil verbal</a:t>
            </a:r>
          </a:p>
          <a:p>
            <a:pPr marL="885825" lvl="1" indent="-342900">
              <a:buFont typeface="Wingdings" panose="05000000000000000000" pitchFamily="2" charset="2"/>
              <a:buChar char="§"/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Ordre neutre de la frase (subjecte + verb + predicat)</a:t>
            </a:r>
          </a:p>
          <a:p>
            <a:pPr marL="885825" lvl="1" indent="-342900">
              <a:buFont typeface="Wingdings" panose="05000000000000000000" pitchFamily="2" charset="2"/>
              <a:buChar char="§"/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Simetria sintàctica</a:t>
            </a:r>
          </a:p>
          <a:p>
            <a:pPr marL="885825" lvl="1" indent="-342900">
              <a:buFont typeface="Wingdings" panose="05000000000000000000" pitchFamily="2" charset="2"/>
              <a:buChar char="§"/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Distribuir la informació en format llista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endParaRPr lang="ca-ES" sz="2200" i="1" dirty="0">
              <a:solidFill>
                <a:schemeClr val="tx1"/>
              </a:solidFill>
            </a:endParaRP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7005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24A0870-C908-4090-9808-9091435F1C94}"/>
              </a:ext>
            </a:extLst>
          </p:cNvPr>
          <p:cNvSpPr txBox="1"/>
          <p:nvPr/>
        </p:nvSpPr>
        <p:spPr>
          <a:xfrm>
            <a:off x="326796" y="335845"/>
            <a:ext cx="11538408" cy="6186309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                                      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b="1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ca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1DBD42-C1F1-0894-873B-7DD1C2D20E70}"/>
              </a:ext>
            </a:extLst>
          </p:cNvPr>
          <p:cNvSpPr/>
          <p:nvPr/>
        </p:nvSpPr>
        <p:spPr>
          <a:xfrm>
            <a:off x="541118" y="491894"/>
            <a:ext cx="10684901" cy="890297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sz="3200" b="1" dirty="0">
                <a:solidFill>
                  <a:schemeClr val="tx1"/>
                </a:solidFill>
              </a:rPr>
              <a:t>Textos normatius</a:t>
            </a:r>
            <a:r>
              <a:rPr lang="ca-ES" sz="2200" dirty="0">
                <a:solidFill>
                  <a:schemeClr val="tx1"/>
                </a:solidFill>
              </a:rPr>
              <a:t>	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EE3E8F-DD82-D746-36C6-4ABCF38077F0}"/>
              </a:ext>
            </a:extLst>
          </p:cNvPr>
          <p:cNvSpPr txBox="1"/>
          <p:nvPr/>
        </p:nvSpPr>
        <p:spPr>
          <a:xfrm>
            <a:off x="541118" y="1288733"/>
            <a:ext cx="8204982" cy="4280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dirty="0">
                <a:solidFill>
                  <a:schemeClr val="tx1"/>
                </a:solidFill>
              </a:rPr>
              <a:t>· </a:t>
            </a:r>
            <a:r>
              <a:rPr lang="ca-ES" sz="2800" b="1" dirty="0">
                <a:solidFill>
                  <a:schemeClr val="tx1"/>
                </a:solidFill>
              </a:rPr>
              <a:t>Fraseologia molt controlada</a:t>
            </a:r>
            <a:r>
              <a:rPr lang="ca-ES" sz="2800" dirty="0">
                <a:solidFill>
                  <a:schemeClr val="tx1"/>
                </a:solidFill>
              </a:rPr>
              <a:t>: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dirty="0">
                <a:solidFill>
                  <a:schemeClr val="tx1"/>
                </a:solidFill>
              </a:rPr>
              <a:t>	</a:t>
            </a:r>
            <a:r>
              <a:rPr lang="ca-ES" sz="2800" i="1" dirty="0">
                <a:solidFill>
                  <a:schemeClr val="tx1"/>
                </a:solidFill>
              </a:rPr>
              <a:t>Aquesta Llei/Reglament té per objecte...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i="1" dirty="0">
                <a:solidFill>
                  <a:schemeClr val="tx1"/>
                </a:solidFill>
              </a:rPr>
              <a:t>Aquesta Llei/Reglament té com a finalitat...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i="1" dirty="0">
                <a:solidFill>
                  <a:schemeClr val="tx1"/>
                </a:solidFill>
              </a:rPr>
              <a:t>Als efectes d’aquesta Llei, s’entén per: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i="1" dirty="0">
                <a:solidFill>
                  <a:schemeClr val="tx1"/>
                </a:solidFill>
              </a:rPr>
              <a:t>Correspon a [organisme] [verb en infinitiu]</a:t>
            </a:r>
            <a:endParaRPr lang="ca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5BB9ED-C824-4017-294D-44F1DFBA685B}"/>
              </a:ext>
            </a:extLst>
          </p:cNvPr>
          <p:cNvSpPr/>
          <p:nvPr/>
        </p:nvSpPr>
        <p:spPr>
          <a:xfrm>
            <a:off x="326796" y="5787906"/>
            <a:ext cx="11111654" cy="890297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b="1" dirty="0">
                <a:solidFill>
                  <a:schemeClr val="tx1"/>
                </a:solidFill>
              </a:rPr>
              <a:t>Per a més fraseologia de les disposicions normatives, vegeu </a:t>
            </a:r>
            <a:r>
              <a:rPr lang="ca-ES" b="1" dirty="0">
                <a:solidFill>
                  <a:schemeClr val="tx1"/>
                </a:solidFill>
                <a:hlinkClick r:id="rId3"/>
              </a:rPr>
              <a:t>Llibre d’estil del Govern de les Illes Balears </a:t>
            </a:r>
            <a:r>
              <a:rPr lang="ca-ES" b="1" dirty="0">
                <a:solidFill>
                  <a:schemeClr val="tx1"/>
                </a:solidFill>
              </a:rPr>
              <a:t>(pàg. 303)</a:t>
            </a:r>
            <a:endParaRPr lang="ca-ES" sz="1400" dirty="0">
              <a:solidFill>
                <a:schemeClr val="tx1"/>
              </a:solidFill>
            </a:endParaRP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4292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A1669C3-F2C7-22A6-3428-E32268A6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3667"/>
              </p:ext>
            </p:extLst>
          </p:nvPr>
        </p:nvGraphicFramePr>
        <p:xfrm>
          <a:off x="1186375" y="1491177"/>
          <a:ext cx="9819249" cy="4304713"/>
        </p:xfrm>
        <a:graphic>
          <a:graphicData uri="http://schemas.openxmlformats.org/drawingml/2006/table">
            <a:tbl>
              <a:tblPr firstRow="1" firstCol="1" bandRow="1"/>
              <a:tblGrid>
                <a:gridCol w="4908387">
                  <a:extLst>
                    <a:ext uri="{9D8B030D-6E8A-4147-A177-3AD203B41FA5}">
                      <a16:colId xmlns:a16="http://schemas.microsoft.com/office/drawing/2014/main" val="675115751"/>
                    </a:ext>
                  </a:extLst>
                </a:gridCol>
                <a:gridCol w="4910862">
                  <a:extLst>
                    <a:ext uri="{9D8B030D-6E8A-4147-A177-3AD203B41FA5}">
                      <a16:colId xmlns:a16="http://schemas.microsoft.com/office/drawing/2014/main" val="2904573372"/>
                    </a:ext>
                  </a:extLst>
                </a:gridCol>
              </a:tblGrid>
              <a:tr h="535370">
                <a:tc>
                  <a:txBody>
                    <a:bodyPr/>
                    <a:lstStyle/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ca-ES" sz="40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Wingdings" panose="05000000000000000000" pitchFamily="2" charset="2"/>
                        <a:cs typeface="Wingdings" panose="05000000000000000000" pitchFamily="2" charset="2"/>
                      </a:endParaRPr>
                    </a:p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ca-ES" sz="40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Wingdings" panose="05000000000000000000" pitchFamily="2" charset="2"/>
                        <a:cs typeface="Wingdings" panose="05000000000000000000" pitchFamily="2" charset="2"/>
                      </a:endParaRPr>
                    </a:p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ca-ES" sz="40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Wingdings" panose="05000000000000000000" pitchFamily="2" charset="2"/>
                          <a:cs typeface="Wingdings" panose="05000000000000000000" pitchFamily="2" charset="2"/>
                        </a:rPr>
                        <a:t>û</a:t>
                      </a:r>
                      <a:endParaRPr lang="ca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ca-ES" sz="4000" b="1" dirty="0">
                        <a:solidFill>
                          <a:srgbClr val="00B050"/>
                        </a:solidFill>
                        <a:effectLst/>
                        <a:latin typeface="Wingdings 2" panose="05020102010507070707" pitchFamily="18" charset="2"/>
                        <a:ea typeface="Wingdings 2" panose="05020102010507070707" pitchFamily="18" charset="2"/>
                        <a:cs typeface="Wingdings 2" panose="05020102010507070707" pitchFamily="18" charset="2"/>
                      </a:endParaRPr>
                    </a:p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ca-ES" sz="4000" b="1" dirty="0">
                        <a:solidFill>
                          <a:srgbClr val="00B050"/>
                        </a:solidFill>
                        <a:effectLst/>
                        <a:latin typeface="Wingdings 2" panose="05020102010507070707" pitchFamily="18" charset="2"/>
                        <a:ea typeface="Wingdings 2" panose="05020102010507070707" pitchFamily="18" charset="2"/>
                        <a:cs typeface="Wingdings 2" panose="05020102010507070707" pitchFamily="18" charset="2"/>
                      </a:endParaRPr>
                    </a:p>
                    <a:p>
                      <a:pPr indent="-215900" algn="ctr">
                        <a:lnSpc>
                          <a:spcPts val="108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ca-ES" sz="4000" b="1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  <a:ea typeface="Wingdings 2" panose="05020102010507070707" pitchFamily="18" charset="2"/>
                          <a:cs typeface="Wingdings 2" panose="05020102010507070707" pitchFamily="18" charset="2"/>
                        </a:rPr>
                        <a:t>P</a:t>
                      </a:r>
                      <a:endParaRPr lang="ca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17361"/>
                  </a:ext>
                </a:extLst>
              </a:tr>
              <a:tr h="216816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ca-E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Article 52. Aquestes transferències no estan afectades per les limitacions a què fa referència </a:t>
                      </a:r>
                      <a:r>
                        <a:rPr lang="ca-ES" sz="2400" u="sng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</a:t>
                      </a:r>
                      <a:r>
                        <a:rPr lang="ca-ES" sz="2400" u="sng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anterior</a:t>
                      </a:r>
                      <a:r>
                        <a:rPr lang="ca-ES" sz="24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</a:t>
                      </a:r>
                      <a:r>
                        <a:rPr lang="ca-E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rticle d’aquesta Llei</a:t>
                      </a:r>
                      <a:r>
                        <a:rPr lang="ca-E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 s’han de comunicar al  [...]</a:t>
                      </a:r>
                      <a:endParaRPr lang="ca-E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ca-E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Article 52. [...] Aquestes transferències no estan afectades per les limitacions a què fa referència </a:t>
                      </a:r>
                      <a:r>
                        <a:rPr lang="ca-ES" sz="24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</a:t>
                      </a:r>
                      <a:r>
                        <a:rPr lang="ca-ES" sz="24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</a:t>
                      </a:r>
                      <a:r>
                        <a:rPr lang="ca-ES" sz="24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rticle 8.1 </a:t>
                      </a:r>
                      <a:r>
                        <a:rPr lang="ca-E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s’han de comunicar al [...]</a:t>
                      </a:r>
                      <a:r>
                        <a:rPr lang="ca-ES" sz="2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ca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85119"/>
                  </a:ext>
                </a:extLst>
              </a:tr>
              <a:tr h="14792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9. </a:t>
                      </a: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Funcions</a:t>
                      </a:r>
                      <a:endParaRPr lang="es-E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D’acord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amb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l’</a:t>
                      </a:r>
                      <a:r>
                        <a:rPr lang="es-ES" sz="24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</a:t>
                      </a:r>
                      <a:r>
                        <a:rPr lang="es-E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ES" sz="24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següent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el </a:t>
                      </a:r>
                      <a:r>
                        <a:rPr lang="es-E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president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o presidenta ha de […]</a:t>
                      </a:r>
                      <a:endParaRPr lang="ca-E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215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24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 9.</a:t>
                      </a:r>
                    </a:p>
                    <a:p>
                      <a:pPr marL="0" marR="0" lvl="0" indent="-215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a-ES" sz="24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D’acord amb l’</a:t>
                      </a:r>
                      <a:r>
                        <a:rPr lang="ca-ES" sz="24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 10</a:t>
                      </a:r>
                      <a:r>
                        <a:rPr lang="ca-ES" sz="24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el president </a:t>
                      </a:r>
                      <a:r>
                        <a:rPr lang="es-E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 presidenta ha de […]</a:t>
                      </a:r>
                      <a:endParaRPr lang="ca-E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90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68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42DD4D-FBD6-EE77-D673-76DD7F7C1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94" y="834448"/>
            <a:ext cx="7519621" cy="542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1E850A-0E62-4F63-9179-67FD5360C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41" y="1353064"/>
            <a:ext cx="8094889" cy="24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0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ADBC919-6F7A-C623-B482-82459F0AA1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123"/>
          <a:stretch/>
        </p:blipFill>
        <p:spPr>
          <a:xfrm>
            <a:off x="796950" y="444854"/>
            <a:ext cx="6278974" cy="596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4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D8C9957-A7C4-0FCE-3CD2-6C4EC668BCF3}"/>
              </a:ext>
            </a:extLst>
          </p:cNvPr>
          <p:cNvSpPr/>
          <p:nvPr/>
        </p:nvSpPr>
        <p:spPr>
          <a:xfrm>
            <a:off x="0" y="180205"/>
            <a:ext cx="12771217" cy="5348059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800" dirty="0">
                <a:solidFill>
                  <a:schemeClr val="tx1"/>
                </a:solidFill>
              </a:rPr>
              <a:t>· </a:t>
            </a:r>
            <a:r>
              <a:rPr lang="ca-ES" sz="2800" b="1" dirty="0">
                <a:solidFill>
                  <a:schemeClr val="tx1"/>
                </a:solidFill>
              </a:rPr>
              <a:t>Terminologia controvertida</a:t>
            </a:r>
            <a:r>
              <a:rPr lang="ca-ES" sz="2800" dirty="0">
                <a:solidFill>
                  <a:schemeClr val="tx1"/>
                </a:solidFill>
              </a:rPr>
              <a:t>: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i="1" dirty="0">
                <a:solidFill>
                  <a:schemeClr val="tx1"/>
                </a:solidFill>
              </a:rPr>
              <a:t>contemplar </a:t>
            </a:r>
            <a:r>
              <a:rPr lang="ca-ES" sz="22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꞊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complimentar </a:t>
            </a:r>
            <a:r>
              <a:rPr lang="ca-ES" i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≠ complir  </a:t>
            </a:r>
            <a:endParaRPr lang="ca-ES" i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i="1" dirty="0">
                <a:solidFill>
                  <a:schemeClr val="tx1"/>
                </a:solidFill>
              </a:rPr>
              <a:t>concórrer  =  </a:t>
            </a:r>
            <a:r>
              <a:rPr lang="ca-ES" sz="2200" i="1" dirty="0">
                <a:solidFill>
                  <a:srgbClr val="FF0000"/>
                </a:solidFill>
              </a:rPr>
              <a:t>*Quan concorri alguna de les circumstàncies...</a:t>
            </a: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i="1" dirty="0">
                <a:solidFill>
                  <a:schemeClr val="tx1"/>
                </a:solidFill>
              </a:rPr>
              <a:t>reunir </a:t>
            </a:r>
            <a:r>
              <a:rPr lang="ca-ES" sz="2200" i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≠ </a:t>
            </a:r>
            <a:r>
              <a:rPr lang="ca-ES" sz="20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*reunir els requisits</a:t>
            </a:r>
            <a:endParaRPr lang="ca-ES" sz="2200" i="1" dirty="0">
              <a:solidFill>
                <a:srgbClr val="00B050"/>
              </a:solidFill>
            </a:endParaRP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i="1" dirty="0">
                <a:solidFill>
                  <a:schemeClr val="tx1"/>
                </a:solidFill>
              </a:rPr>
              <a:t>*sortir efectes</a:t>
            </a:r>
            <a:endParaRPr lang="ca-ES" sz="2200" i="1" dirty="0">
              <a:solidFill>
                <a:srgbClr val="00B05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1C575B8-5379-6790-0A79-A65B3AE59779}"/>
              </a:ext>
            </a:extLst>
          </p:cNvPr>
          <p:cNvSpPr/>
          <p:nvPr/>
        </p:nvSpPr>
        <p:spPr>
          <a:xfrm>
            <a:off x="94972" y="1095928"/>
            <a:ext cx="10684901" cy="60303"/>
          </a:xfrm>
          <a:prstGeom prst="rect">
            <a:avLst/>
          </a:prstGeom>
          <a:noFill/>
          <a:ln>
            <a:noFill/>
          </a:ln>
          <a:effectLst>
            <a:glow rad="203200">
              <a:schemeClr val="bg1">
                <a:alpha val="40000"/>
              </a:schemeClr>
            </a:glow>
            <a:outerShdw blurRad="50800" dist="38100" dir="5400000" algn="ctr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indent="-7938">
              <a:tabLst>
                <a:tab pos="4305300" algn="l"/>
              </a:tabLst>
            </a:pPr>
            <a:endParaRPr lang="ca-ES" sz="2400" dirty="0">
              <a:solidFill>
                <a:schemeClr val="tx1"/>
              </a:solidFill>
            </a:endParaRPr>
          </a:p>
          <a:p>
            <a:pPr marL="93663" indent="-7938">
              <a:tabLst>
                <a:tab pos="4305300" algn="l"/>
              </a:tabLst>
            </a:pPr>
            <a:r>
              <a:rPr lang="ca-ES" sz="3200" b="1" dirty="0">
                <a:solidFill>
                  <a:schemeClr val="tx1"/>
                </a:solidFill>
              </a:rPr>
              <a:t>Textos normatius</a:t>
            </a:r>
          </a:p>
          <a:p>
            <a:pPr marL="93663" indent="-7938">
              <a:tabLst>
                <a:tab pos="4305300" algn="l"/>
              </a:tabLst>
            </a:pPr>
            <a:endParaRPr lang="ca-ES" sz="2800" b="1" dirty="0">
              <a:solidFill>
                <a:schemeClr val="tx1"/>
              </a:solidFill>
            </a:endParaRPr>
          </a:p>
          <a:p>
            <a:pPr marL="801688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  <a:p>
            <a:pPr marL="93663" indent="-7938">
              <a:lnSpc>
                <a:spcPct val="200000"/>
              </a:lnSpc>
              <a:tabLst>
                <a:tab pos="4305300" algn="l"/>
              </a:tabLst>
            </a:pPr>
            <a:r>
              <a:rPr lang="ca-ES" sz="2200" dirty="0">
                <a:solidFill>
                  <a:schemeClr val="tx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1141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Panorámica</PresentationFormat>
  <Paragraphs>90</Paragraphs>
  <Slides>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Verdana</vt:lpstr>
      <vt:lpstr>Wingdings</vt:lpstr>
      <vt:lpstr>Wingdings 2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2023-11-16T16:40:37Z</dcterms:created>
  <dcterms:modified xsi:type="dcterms:W3CDTF">2025-01-27T18:18:44Z</dcterms:modified>
</cp:coreProperties>
</file>